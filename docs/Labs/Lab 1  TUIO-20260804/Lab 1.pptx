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9010313" cy="10693400"/>
  <p:notesSz cx="7556500" cy="10693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4">
          <p15:clr>
            <a:srgbClr val="A4A3A4"/>
          </p15:clr>
        </p15:guide>
        <p15:guide id="2" pos="11460">
          <p15:clr>
            <a:srgbClr val="A4A3A4"/>
          </p15:clr>
        </p15:guide>
        <p15:guide id="3" orient="horz" pos="2696">
          <p15:clr>
            <a:srgbClr val="A4A3A4"/>
          </p15:clr>
        </p15:guide>
        <p15:guide id="4" pos="612">
          <p15:clr>
            <a:srgbClr val="A4A3A4"/>
          </p15:clr>
        </p15:guide>
        <p15:guide id="5" pos="60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634" y="67"/>
      </p:cViewPr>
      <p:guideLst>
        <p:guide orient="horz" pos="344"/>
        <p:guide pos="11460"/>
        <p:guide orient="horz" pos="2696"/>
        <p:guide pos="612"/>
        <p:guide pos="60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79900" y="0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9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/>
              <a:t>https://realpython.com/python-sockets/</a:t>
            </a:r>
            <a:endParaRPr/>
          </a:p>
        </p:txBody>
      </p:sp>
      <p:sp>
        <p:nvSpPr>
          <p:cNvPr id="305" name="Google Shape;305;p19:notes"/>
          <p:cNvSpPr txBox="1">
            <a:spLocks noGrp="1"/>
          </p:cNvSpPr>
          <p:nvPr>
            <p:ph type="sldNum" idx="12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>
            <a:spLocks noGrp="1"/>
          </p:cNvSpPr>
          <p:nvPr>
            <p:ph type="body" idx="1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16396395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05841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66"/>
              <a:buChar char="•"/>
              <a:defRPr>
                <a:solidFill>
                  <a:srgbClr val="7F7F7F"/>
                </a:solidFill>
              </a:defRPr>
            </a:lvl1pPr>
            <a:lvl2pPr marL="914400" lvl="1" indent="-466217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42"/>
              <a:buChar char="•"/>
              <a:defRPr>
                <a:solidFill>
                  <a:srgbClr val="7F7F7F"/>
                </a:solidFill>
              </a:defRPr>
            </a:lvl2pPr>
            <a:lvl3pPr marL="1371600" lvl="2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118"/>
              <a:buChar char="•"/>
              <a:defRPr>
                <a:solidFill>
                  <a:srgbClr val="7F7F7F"/>
                </a:solidFill>
              </a:defRPr>
            </a:lvl3pPr>
            <a:lvl4pPr marL="1828800" lvl="3" indent="-406844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807"/>
              <a:buChar char="•"/>
              <a:defRPr>
                <a:solidFill>
                  <a:srgbClr val="7F7F7F"/>
                </a:solidFill>
              </a:defRPr>
            </a:lvl4pPr>
            <a:lvl5pPr marL="2286000" lvl="4" indent="-406844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807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1306959" y="1061912"/>
            <a:ext cx="16396395" cy="157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1306959" y="2846623"/>
            <a:ext cx="8079383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9623971" y="2846623"/>
            <a:ext cx="8079383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309435" y="1042110"/>
            <a:ext cx="16396395" cy="159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None/>
              <a:defRPr sz="3118" b="1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None/>
              <a:defRPr sz="2807" b="1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1309436" y="3906061"/>
            <a:ext cx="8042253" cy="574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9623971" y="2621369"/>
            <a:ext cx="8081859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None/>
              <a:defRPr sz="3118" b="1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None/>
              <a:defRPr sz="2807" b="1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 b="1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9623971" y="3906061"/>
            <a:ext cx="8081859" cy="574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1309436" y="1242244"/>
            <a:ext cx="6131320" cy="1965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9"/>
              <a:buFont typeface="Calibri"/>
              <a:buNone/>
              <a:defRPr sz="49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>
            <a:spLocks noGrp="1"/>
          </p:cNvSpPr>
          <p:nvPr>
            <p:ph type="pic" idx="2"/>
          </p:nvPr>
        </p:nvSpPr>
        <p:spPr>
          <a:xfrm>
            <a:off x="8081859" y="1539652"/>
            <a:ext cx="9623971" cy="7599245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1309436" y="3208020"/>
            <a:ext cx="6131320" cy="59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183"/>
              <a:buNone/>
              <a:defRPr sz="2183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71"/>
              <a:buNone/>
              <a:defRPr sz="1870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5"/>
              <a:buFont typeface="Calibri"/>
              <a:buNone/>
              <a:defRPr sz="935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1pPr>
            <a:lvl2pPr lvl="1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None/>
              <a:defRPr sz="3118"/>
            </a:lvl2pPr>
            <a:lvl3pPr lvl="2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None/>
              <a:defRPr sz="2807"/>
            </a:lvl3pPr>
            <a:lvl4pPr lvl="3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4pPr>
            <a:lvl5pPr lvl="4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5pPr>
            <a:lvl6pPr lvl="5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6pPr>
            <a:lvl7pPr lvl="6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7pPr>
            <a:lvl8pPr lvl="7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8pPr>
            <a:lvl9pPr lvl="8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5"/>
              <a:buFont typeface="Calibri"/>
              <a:buNone/>
              <a:defRPr sz="935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3118"/>
              <a:buNone/>
              <a:defRPr sz="3118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807"/>
              <a:buNone/>
              <a:defRPr sz="2807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5"/>
              <a:buNone/>
              <a:defRPr sz="249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306959" y="1098228"/>
            <a:ext cx="16396395" cy="153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1309436" y="1170236"/>
            <a:ext cx="6131320" cy="203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9"/>
              <a:buFont typeface="Calibri"/>
              <a:buNone/>
              <a:defRPr sz="49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8081859" y="1539652"/>
            <a:ext cx="9623971" cy="759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45401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4989"/>
              <a:buChar char="•"/>
              <a:defRPr sz="4989"/>
            </a:lvl1pPr>
            <a:lvl2pPr marL="914400" lvl="1" indent="-505841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4366"/>
              <a:buChar char="•"/>
              <a:defRPr sz="4366"/>
            </a:lvl2pPr>
            <a:lvl3pPr marL="1371600" lvl="2" indent="-466217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42"/>
              <a:buChar char="•"/>
              <a:defRPr sz="3741"/>
            </a:lvl3pPr>
            <a:lvl4pPr marL="1828800" lvl="3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4pPr>
            <a:lvl5pPr marL="2286000" lvl="4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5pPr>
            <a:lvl6pPr marL="2743200" lvl="5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6pPr>
            <a:lvl7pPr marL="3200400" lvl="6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7pPr>
            <a:lvl8pPr marL="3657600" lvl="7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8pPr>
            <a:lvl9pPr marL="4114800" lvl="8" indent="-426592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2"/>
          </p:nvPr>
        </p:nvSpPr>
        <p:spPr>
          <a:xfrm>
            <a:off x="1309436" y="3208020"/>
            <a:ext cx="6131320" cy="59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2495"/>
              <a:buNone/>
              <a:defRPr sz="2495"/>
            </a:lvl1pPr>
            <a:lvl2pPr marL="914400" lvl="1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183"/>
              <a:buNone/>
              <a:defRPr sz="2183"/>
            </a:lvl2pPr>
            <a:lvl3pPr marL="1371600" lvl="2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71"/>
              <a:buNone/>
              <a:defRPr sz="1870"/>
            </a:lvl3pPr>
            <a:lvl4pPr marL="1828800" lvl="3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4pPr>
            <a:lvl5pPr marL="2286000" lvl="4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5pPr>
            <a:lvl6pPr marL="2743200" lvl="5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6pPr>
            <a:lvl7pPr marL="3200400" lvl="6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7pPr>
            <a:lvl8pPr marL="3657600" lvl="7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8pPr>
            <a:lvl9pPr marL="4114800" lvl="8" indent="-228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1306959" y="1061912"/>
            <a:ext cx="16396395" cy="157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 rot="5400000">
            <a:off x="6112725" y="-1959143"/>
            <a:ext cx="6784864" cy="1639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 rot="5400000">
            <a:off x="11495186" y="3423320"/>
            <a:ext cx="8317236" cy="409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 rot="5400000">
            <a:off x="3178175" y="-556965"/>
            <a:ext cx="8317235" cy="1205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60"/>
              <a:buFont typeface="Calibri"/>
              <a:buNone/>
              <a:defRPr sz="68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05841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4366"/>
              <a:buFont typeface="Arial"/>
              <a:buChar char="•"/>
              <a:defRPr sz="43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66217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42"/>
              <a:buFont typeface="Arial"/>
              <a:buChar char="•"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26592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844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7"/>
              <a:buFont typeface="Arial"/>
              <a:buChar char="•"/>
              <a:defRPr sz="28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7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  <p:grpSp>
        <p:nvGrpSpPr>
          <p:cNvPr id="15" name="Google Shape;15;p1"/>
          <p:cNvGrpSpPr/>
          <p:nvPr/>
        </p:nvGrpSpPr>
        <p:grpSpPr>
          <a:xfrm>
            <a:off x="-101" y="-53900"/>
            <a:ext cx="19010313" cy="1112119"/>
            <a:chOff x="-101" y="-53900"/>
            <a:chExt cx="19010313" cy="1112119"/>
          </a:xfrm>
        </p:grpSpPr>
        <p:grpSp>
          <p:nvGrpSpPr>
            <p:cNvPr id="16" name="Google Shape;16;p1"/>
            <p:cNvGrpSpPr/>
            <p:nvPr/>
          </p:nvGrpSpPr>
          <p:grpSpPr>
            <a:xfrm>
              <a:off x="-101" y="-53900"/>
              <a:ext cx="19010313" cy="1112119"/>
              <a:chOff x="-324644" y="2222500"/>
              <a:chExt cx="22261685" cy="1302327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-324644" y="2222500"/>
                <a:ext cx="5600193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16363156" y="2222500"/>
                <a:ext cx="5573885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 extrusionOk="0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5237956" y="2222500"/>
                <a:ext cx="5600193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1"/>
              <p:cNvSpPr/>
              <p:nvPr/>
            </p:nvSpPr>
            <p:spPr>
              <a:xfrm>
                <a:off x="10800556" y="2222500"/>
                <a:ext cx="5600194" cy="1302327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 extrusionOk="0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" name="Google Shape;21;p1"/>
            <p:cNvSpPr txBox="1"/>
            <p:nvPr/>
          </p:nvSpPr>
          <p:spPr>
            <a:xfrm>
              <a:off x="850426" y="249525"/>
              <a:ext cx="3835570" cy="505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EG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MSA University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10799071" y="169328"/>
              <a:ext cx="33360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87625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EG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Spring 26</a:t>
              </a:r>
              <a:endPara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15791365" y="169328"/>
              <a:ext cx="1677888" cy="580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87625" rIns="0" bIns="0" anchor="t" anchorCtr="0">
              <a:spAutoFit/>
            </a:bodyPr>
            <a:lstStyle/>
            <a:p>
              <a:pPr marL="4064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EG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Lab 1</a:t>
              </a:r>
              <a:endParaRPr/>
            </a:p>
          </p:txBody>
        </p:sp>
        <p:sp>
          <p:nvSpPr>
            <p:cNvPr id="24" name="Google Shape;24;p1"/>
            <p:cNvSpPr txBox="1"/>
            <p:nvPr/>
          </p:nvSpPr>
          <p:spPr>
            <a:xfrm>
              <a:off x="4772534" y="249525"/>
              <a:ext cx="4621823" cy="505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EG" sz="3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Computer Science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hyperlink" Target="https://www.anaconda.com/" TargetMode="External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/>
          <p:nvPr/>
        </p:nvSpPr>
        <p:spPr>
          <a:xfrm>
            <a:off x="-4819" y="3951997"/>
            <a:ext cx="19010313" cy="69455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361156" y="2841762"/>
            <a:ext cx="9677400" cy="223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360680" algn="ctr" rtl="0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EG" sz="7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Human Computer Interaction: TUIO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 rot="10800000" flipH="1">
            <a:off x="513556" y="4889497"/>
            <a:ext cx="9601200" cy="274319"/>
          </a:xfrm>
          <a:custGeom>
            <a:avLst/>
            <a:gdLst/>
            <a:ahLst/>
            <a:cxnLst/>
            <a:rect l="l" t="t" r="r" b="b"/>
            <a:pathLst>
              <a:path w="4686300" h="120000" extrusionOk="0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 cap="flat" cmpd="sng">
            <a:solidFill>
              <a:srgbClr val="002E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255670" y="5388191"/>
            <a:ext cx="7888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D9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5246" y="1486890"/>
            <a:ext cx="7273912" cy="7273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3340" y="8548452"/>
            <a:ext cx="2349048" cy="234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Why HCI</a:t>
            </a:r>
            <a:endParaRPr/>
          </a:p>
        </p:txBody>
      </p:sp>
      <p:pic>
        <p:nvPicPr>
          <p:cNvPr id="110" name="Google Shape;110;p14" descr="Portable IBM PC With MS-DOS From 1984 Is Shown Running The ChatGPT Cli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38" y="3452438"/>
            <a:ext cx="3746587" cy="423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DOS Days - XT and AT Keyboard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52" y="8454047"/>
            <a:ext cx="3746587" cy="1418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Mm Keyboard Mouse Combo - Mouse And Keyboard Png, Transparent Png - vhv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5281" y="7973227"/>
            <a:ext cx="4129659" cy="242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Windows 10 - GUI Basic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55659" y="3452438"/>
            <a:ext cx="2808905" cy="4610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How to Fix Your Windows 10 Touchscreen Not Working"/>
          <p:cNvPicPr preferRelativeResize="0"/>
          <p:nvPr/>
        </p:nvPicPr>
        <p:blipFill rotWithShape="1">
          <a:blip r:embed="rId7">
            <a:alphaModFix/>
          </a:blip>
          <a:srcRect l="1514" t="1199" r="27192" b="-1199"/>
          <a:stretch/>
        </p:blipFill>
        <p:spPr>
          <a:xfrm>
            <a:off x="9793188" y="3606602"/>
            <a:ext cx="5971071" cy="418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POSTPONED: “What's Next?” A Resource Event for Young Adults with I/DD - The  Down Syndrome Association of Greater Charlott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64259" y="7544890"/>
            <a:ext cx="3246054" cy="314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How Many Types of Interactions ?</a:t>
            </a:r>
            <a:endParaRPr/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7973" y="2003425"/>
            <a:ext cx="3845104" cy="384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Desktop Computer Icon transparent PNG - Stick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8690" y="4227593"/>
            <a:ext cx="4020784" cy="4020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mobile phone logo icon | Mobile logo, Mobile phone logo, Phone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65450" y="4716001"/>
            <a:ext cx="3222731" cy="322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7672" y="7189025"/>
            <a:ext cx="3584409" cy="35844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5"/>
          <p:cNvCxnSpPr/>
          <p:nvPr/>
        </p:nvCxnSpPr>
        <p:spPr>
          <a:xfrm>
            <a:off x="10169876" y="5346701"/>
            <a:ext cx="0" cy="2508066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26" name="Google Shape;126;p15"/>
          <p:cNvCxnSpPr/>
          <p:nvPr/>
        </p:nvCxnSpPr>
        <p:spPr>
          <a:xfrm rot="10800000">
            <a:off x="6670118" y="6677056"/>
            <a:ext cx="3068731" cy="2465813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7" name="Google Shape;127;p15"/>
          <p:cNvCxnSpPr/>
          <p:nvPr/>
        </p:nvCxnSpPr>
        <p:spPr>
          <a:xfrm rot="10800000">
            <a:off x="6670119" y="6327367"/>
            <a:ext cx="7741546" cy="33131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28" name="Google Shape;128;p15"/>
          <p:cNvSpPr txBox="1"/>
          <p:nvPr/>
        </p:nvSpPr>
        <p:spPr>
          <a:xfrm>
            <a:off x="1529466" y="8425075"/>
            <a:ext cx="4557009" cy="1820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7" dirty="0">
                <a:solidFill>
                  <a:srgbClr val="D34816"/>
                </a:solidFill>
                <a:latin typeface="Calibri"/>
                <a:ea typeface="Calibri"/>
                <a:cs typeface="Calibri"/>
                <a:sym typeface="Calibri"/>
              </a:rPr>
              <a:t>Human 	– 	Human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7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Computer 	–   	Computer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7" dirty="0">
                <a:solidFill>
                  <a:srgbClr val="016FBE"/>
                </a:solidFill>
                <a:latin typeface="Calibri"/>
                <a:ea typeface="Calibri"/>
                <a:cs typeface="Calibri"/>
                <a:sym typeface="Calibri"/>
              </a:rPr>
              <a:t>Human 	– 	Computer</a:t>
            </a:r>
            <a:endParaRPr dirty="0"/>
          </a:p>
          <a:p>
            <a:pPr lvl="0"/>
            <a:r>
              <a:rPr lang="en-EG" sz="280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	– 	Human</a:t>
            </a:r>
            <a:endParaRPr dirty="0"/>
          </a:p>
        </p:txBody>
      </p:sp>
      <p:cxnSp>
        <p:nvCxnSpPr>
          <p:cNvPr id="129" name="Google Shape;129;p15"/>
          <p:cNvCxnSpPr/>
          <p:nvPr/>
        </p:nvCxnSpPr>
        <p:spPr>
          <a:xfrm>
            <a:off x="10884266" y="3925977"/>
            <a:ext cx="3527398" cy="2195267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0" name="Google Shape;130;p15"/>
          <p:cNvCxnSpPr/>
          <p:nvPr/>
        </p:nvCxnSpPr>
        <p:spPr>
          <a:xfrm rot="10800000" flipH="1">
            <a:off x="6805310" y="3894685"/>
            <a:ext cx="2650178" cy="2180272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1" name="Google Shape;131;p15"/>
          <p:cNvCxnSpPr/>
          <p:nvPr/>
        </p:nvCxnSpPr>
        <p:spPr>
          <a:xfrm flipH="1">
            <a:off x="10600904" y="6566620"/>
            <a:ext cx="3810760" cy="279425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Interactions</a:t>
            </a:r>
            <a:endParaRPr/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0551" y="3396030"/>
            <a:ext cx="2158654" cy="2158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Desktop Computer Icon transparent PNG - Stick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3004" y="6994668"/>
            <a:ext cx="2987786" cy="2987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8549" y="4783511"/>
            <a:ext cx="2211157" cy="221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mobile phone logo icon | Mobile logo, Mobile phone logo, Phone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58650" y="3149167"/>
            <a:ext cx="3268684" cy="326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Transparent cctv camera icon png 16016734 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65777" y="2403700"/>
            <a:ext cx="3485386" cy="348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8392" y="4783509"/>
            <a:ext cx="2211157" cy="221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8048" y="6942164"/>
            <a:ext cx="2211157" cy="221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Smart Watch Vector Art PNG Images | Free Download On Pngtre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91098" y="6417850"/>
            <a:ext cx="3097324" cy="309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A comprehensive list of human-computer interactions | by Chris R Becker |  UX Collectiv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385" y="1490950"/>
            <a:ext cx="18120791" cy="8049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/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60"/>
              <a:buFont typeface="Calibri"/>
              <a:buNone/>
            </a:pPr>
            <a:r>
              <a:rPr lang="en-EG" sz="68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sub-categories of HCI ?</a:t>
            </a:r>
            <a:endParaRPr/>
          </a:p>
        </p:txBody>
      </p:sp>
      <p:pic>
        <p:nvPicPr>
          <p:cNvPr id="155" name="Google Shape;15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064" y="2752740"/>
            <a:ext cx="14550182" cy="791325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6129892" y="3330476"/>
            <a:ext cx="8262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6129892" y="4534424"/>
            <a:ext cx="8262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16133030" y="5828386"/>
            <a:ext cx="8262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816953" y="4617909"/>
            <a:ext cx="8262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816953" y="6994173"/>
            <a:ext cx="8262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6129892" y="9441281"/>
            <a:ext cx="8262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6133915" y="8155012"/>
            <a:ext cx="646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General Guidelines</a:t>
            </a:r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10718477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Lab is organized as following :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5~10 Minutes intro and history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5 minutes objectives and demos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5~10 minutes discussions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50 minutes for implementation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Attendance is a MUST.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Avoid Being Late.</a:t>
            </a:r>
            <a:endParaRPr/>
          </a:p>
        </p:txBody>
      </p:sp>
      <p:pic>
        <p:nvPicPr>
          <p:cNvPr id="169" name="Google Shape;169;p19" descr="Vector Illustration. Clock, Calendar and Hourglass. Concept of Time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25436" y="2588055"/>
            <a:ext cx="7641836" cy="7641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General Guidelines</a:t>
            </a:r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10718477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300"/>
              <a:buChar char="•"/>
            </a:pPr>
            <a:r>
              <a:rPr lang="en-EG">
                <a:solidFill>
                  <a:srgbClr val="FF0000"/>
                </a:solidFill>
              </a:rPr>
              <a:t>Project (25) 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Phase I  (10)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Phase II (15)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FF0000"/>
              </a:buClr>
              <a:buSzPts val="4300"/>
              <a:buChar char="•"/>
            </a:pPr>
            <a:r>
              <a:rPr lang="en-EG">
                <a:solidFill>
                  <a:srgbClr val="FF0000"/>
                </a:solidFill>
              </a:rPr>
              <a:t>Lab Participation (5)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FF0000"/>
              </a:buClr>
              <a:buSzPts val="4300"/>
              <a:buChar char="•"/>
            </a:pPr>
            <a:r>
              <a:rPr lang="en-EG">
                <a:solidFill>
                  <a:srgbClr val="FF0000"/>
                </a:solidFill>
              </a:rPr>
              <a:t>Quizzes (10)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Extras: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Kahoot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Paper submission will also be considered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68336" y="3339182"/>
            <a:ext cx="6139581" cy="6139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>
            <a:spLocks noGrp="1"/>
          </p:cNvSpPr>
          <p:nvPr>
            <p:ph type="title"/>
          </p:nvPr>
        </p:nvSpPr>
        <p:spPr>
          <a:xfrm>
            <a:off x="1306959" y="1061912"/>
            <a:ext cx="16396395" cy="157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Project</a:t>
            </a:r>
            <a:endParaRPr/>
          </a:p>
        </p:txBody>
      </p:sp>
      <p:pic>
        <p:nvPicPr>
          <p:cNvPr id="182" name="Google Shape;182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96513" y="3500610"/>
            <a:ext cx="8079382" cy="547688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>
            <a:spLocks noGrp="1"/>
          </p:cNvSpPr>
          <p:nvPr>
            <p:ph type="body" idx="2"/>
          </p:nvPr>
        </p:nvSpPr>
        <p:spPr>
          <a:xfrm>
            <a:off x="9623971" y="2846623"/>
            <a:ext cx="8079383" cy="678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</a:pPr>
            <a:r>
              <a:rPr lang="en-EG"/>
              <a:t>Compare 3 different Interaction Techniques.</a:t>
            </a:r>
            <a:endParaRPr/>
          </a:p>
          <a:p>
            <a:pPr marL="356433" lvl="0" indent="-79191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4366"/>
              <a:buNone/>
            </a:pP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</a:pPr>
            <a:r>
              <a:rPr lang="en-EG"/>
              <a:t>Evalute the techniques based on: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</a:pPr>
            <a:r>
              <a:rPr lang="en-EG"/>
              <a:t>User Satisifaction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</a:pPr>
            <a:r>
              <a:rPr lang="en-EG"/>
              <a:t>Engagement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</a:pPr>
            <a:r>
              <a:rPr lang="en-EG"/>
              <a:t>Usability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</a:pPr>
            <a:r>
              <a:rPr lang="en-EG"/>
              <a:t>Surveys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Project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16396395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Project is delivered on </a:t>
            </a:r>
            <a:r>
              <a:rPr lang="en-EG" u="sng">
                <a:solidFill>
                  <a:srgbClr val="FF0000"/>
                </a:solidFill>
              </a:rPr>
              <a:t>FOUR</a:t>
            </a:r>
            <a:r>
              <a:rPr lang="en-EG"/>
              <a:t> phases:</a:t>
            </a:r>
            <a:endParaRPr/>
          </a:p>
          <a:p>
            <a:pPr marL="1069299" lvl="1" indent="-356433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Week 4: Phase 1 (Online Demo) </a:t>
            </a:r>
            <a:endParaRPr/>
          </a:p>
          <a:p>
            <a:pPr marL="1069299" lvl="1" indent="-356433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Week 6: Phase 2 (On campus Discussion)</a:t>
            </a:r>
            <a:endParaRPr/>
          </a:p>
          <a:p>
            <a:pPr marL="1069299" lvl="1" indent="-356433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Week 9: Phase 3 (Formative)</a:t>
            </a:r>
            <a:endParaRPr/>
          </a:p>
          <a:p>
            <a:pPr marL="1069299" lvl="1" indent="-356433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Week 13: Phase 4 ( On Campus Discussion) </a:t>
            </a:r>
            <a:endParaRPr/>
          </a:p>
          <a:p>
            <a:pPr marL="356433" lvl="0" indent="-79191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66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Rewards</a:t>
            </a: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1306960" y="3186460"/>
            <a:ext cx="9760948" cy="738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56433" lvl="0" indent="-35643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3200"/>
              <a:t>Best 2 projects participate in </a:t>
            </a:r>
            <a:r>
              <a:rPr lang="en-EG" sz="3200" b="1" u="sng">
                <a:solidFill>
                  <a:srgbClr val="FF0000"/>
                </a:solidFill>
              </a:rPr>
              <a:t>DeepMinds</a:t>
            </a:r>
            <a:endParaRPr/>
          </a:p>
          <a:p>
            <a:pPr marL="356433" lvl="0" indent="-356433" algn="l" rtl="0">
              <a:lnSpc>
                <a:spcPct val="15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3200"/>
              <a:t>Best project gets </a:t>
            </a:r>
            <a:r>
              <a:rPr lang="en-EG" sz="3200" b="1" u="sng">
                <a:solidFill>
                  <a:srgbClr val="FF0000"/>
                </a:solidFill>
              </a:rPr>
              <a:t>25 marks</a:t>
            </a:r>
            <a:endParaRPr/>
          </a:p>
          <a:p>
            <a:pPr marL="356433" lvl="0" indent="-356433" algn="l" rtl="0">
              <a:lnSpc>
                <a:spcPct val="15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3200"/>
              <a:t>We will dedicate a </a:t>
            </a:r>
            <a:r>
              <a:rPr lang="en-EG" sz="3200" b="1" u="sng">
                <a:solidFill>
                  <a:srgbClr val="FF0000"/>
                </a:solidFill>
              </a:rPr>
              <a:t>LinkedIn post</a:t>
            </a:r>
            <a:r>
              <a:rPr lang="en-EG" sz="3200" b="1">
                <a:solidFill>
                  <a:srgbClr val="FF0000"/>
                </a:solidFill>
              </a:rPr>
              <a:t> </a:t>
            </a:r>
            <a:r>
              <a:rPr lang="en-EG" sz="3200"/>
              <a:t>for the top project</a:t>
            </a:r>
            <a:endParaRPr/>
          </a:p>
          <a:p>
            <a:pPr marL="356433" lvl="0" indent="-356433" algn="l" rtl="0">
              <a:lnSpc>
                <a:spcPct val="15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3200"/>
              <a:t>Members of best 2 projects will receive a </a:t>
            </a:r>
            <a:r>
              <a:rPr lang="en-EG" sz="3200" b="1" u="sng">
                <a:solidFill>
                  <a:srgbClr val="FF0000"/>
                </a:solidFill>
              </a:rPr>
              <a:t>recommendation</a:t>
            </a:r>
            <a:r>
              <a:rPr lang="en-EG" sz="3200"/>
              <a:t> on </a:t>
            </a:r>
            <a:r>
              <a:rPr lang="en-EG" sz="3200" b="1" i="1"/>
              <a:t>LinkedIn</a:t>
            </a:r>
            <a:endParaRPr/>
          </a:p>
          <a:p>
            <a:pPr marL="356433" lvl="0" indent="-356433" algn="just" rtl="0">
              <a:lnSpc>
                <a:spcPct val="15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3200"/>
              <a:t>You can compete in national competitions with your project</a:t>
            </a:r>
            <a:endParaRPr sz="3200"/>
          </a:p>
          <a:p>
            <a:pPr marL="356433" lvl="0" indent="-356433" algn="just" rtl="0">
              <a:lnSpc>
                <a:spcPct val="15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3200"/>
              <a:t>Projects can easily be converted into a </a:t>
            </a:r>
            <a:r>
              <a:rPr lang="en-EG" sz="3200" b="1" u="sng">
                <a:solidFill>
                  <a:srgbClr val="FF0000"/>
                </a:solidFill>
              </a:rPr>
              <a:t>scientific paper</a:t>
            </a:r>
            <a:r>
              <a:rPr lang="en-EG" sz="3200"/>
              <a:t> and have higher chance of acceptance in </a:t>
            </a:r>
            <a:r>
              <a:rPr lang="en-EG" sz="3200" b="1" i="1" u="sng"/>
              <a:t>Journals</a:t>
            </a:r>
            <a:endParaRPr/>
          </a:p>
          <a:p>
            <a:pPr marL="1069299" lvl="1" indent="-356433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2800" i="1"/>
              <a:t>Multimodality</a:t>
            </a:r>
            <a:r>
              <a:rPr lang="en-EG" sz="2800"/>
              <a:t> is booming</a:t>
            </a:r>
            <a:endParaRPr/>
          </a:p>
          <a:p>
            <a:pPr marL="1069299" lvl="1" indent="-356433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EG" sz="2800"/>
              <a:t>Journal publication opens lots of doors abroad</a:t>
            </a:r>
            <a:endParaRPr sz="2800"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6065" y="2292350"/>
            <a:ext cx="7950200" cy="61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26619">
            <a:off x="16825736" y="2738895"/>
            <a:ext cx="1107843" cy="1332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 rotWithShape="1">
          <a:blip r:embed="rId5">
            <a:alphaModFix/>
          </a:blip>
          <a:srcRect l="21637" t="15657" r="21635" b="24071"/>
          <a:stretch/>
        </p:blipFill>
        <p:spPr>
          <a:xfrm>
            <a:off x="12021907" y="2785588"/>
            <a:ext cx="1080120" cy="1239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 rotWithShape="1">
          <a:blip r:embed="rId6">
            <a:alphaModFix/>
          </a:blip>
          <a:srcRect t="11080" b="15211"/>
          <a:stretch/>
        </p:blipFill>
        <p:spPr>
          <a:xfrm>
            <a:off x="12561967" y="7838120"/>
            <a:ext cx="4817690" cy="184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UGRF – CIS: Evaluating Student Engagement</a:t>
            </a:r>
            <a:endParaRPr/>
          </a:p>
        </p:txBody>
      </p:sp>
      <p:pic>
        <p:nvPicPr>
          <p:cNvPr id="205" name="Google Shape;205;p24" descr="No alt text provided for this imag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208322" y="3186460"/>
            <a:ext cx="8593666" cy="64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RoadMap</a:t>
            </a:r>
            <a:endParaRPr/>
          </a:p>
        </p:txBody>
      </p:sp>
      <p:grpSp>
        <p:nvGrpSpPr>
          <p:cNvPr id="211" name="Google Shape;211;p25"/>
          <p:cNvGrpSpPr/>
          <p:nvPr/>
        </p:nvGrpSpPr>
        <p:grpSpPr>
          <a:xfrm>
            <a:off x="1658651" y="3266684"/>
            <a:ext cx="6858020" cy="6669392"/>
            <a:chOff x="1" y="1613"/>
            <a:chExt cx="6858020" cy="6669392"/>
          </a:xfrm>
        </p:grpSpPr>
        <p:sp>
          <p:nvSpPr>
            <p:cNvPr id="212" name="Google Shape;212;p25"/>
            <p:cNvSpPr/>
            <p:nvPr/>
          </p:nvSpPr>
          <p:spPr>
            <a:xfrm rot="5400000">
              <a:off x="-213813" y="215427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5"/>
            <p:cNvSpPr txBox="1"/>
            <p:nvPr/>
          </p:nvSpPr>
          <p:spPr>
            <a:xfrm>
              <a:off x="2" y="500512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5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EG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1</a:t>
              </a:r>
              <a:endParaRPr/>
            </a:p>
          </p:txBody>
        </p:sp>
        <p:sp>
          <p:nvSpPr>
            <p:cNvPr id="214" name="Google Shape;214;p25"/>
            <p:cNvSpPr/>
            <p:nvPr/>
          </p:nvSpPr>
          <p:spPr>
            <a:xfrm rot="5400000">
              <a:off x="3464646" y="-2465235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5"/>
            <p:cNvSpPr txBox="1"/>
            <p:nvPr/>
          </p:nvSpPr>
          <p:spPr>
            <a:xfrm>
              <a:off x="997798" y="46842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19050" rIns="19050" bIns="19050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lang="en-EG"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Markers TUIO</a:t>
              </a:r>
              <a:endParaRPr/>
            </a:p>
          </p:txBody>
        </p:sp>
        <p:sp>
          <p:nvSpPr>
            <p:cNvPr id="216" name="Google Shape;216;p25"/>
            <p:cNvSpPr/>
            <p:nvPr/>
          </p:nvSpPr>
          <p:spPr>
            <a:xfrm rot="5400000">
              <a:off x="-213813" y="1526419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5"/>
            <p:cNvSpPr txBox="1"/>
            <p:nvPr/>
          </p:nvSpPr>
          <p:spPr>
            <a:xfrm>
              <a:off x="2" y="1811504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5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EG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2</a:t>
              </a:r>
              <a:endParaRPr/>
            </a:p>
          </p:txBody>
        </p:sp>
        <p:sp>
          <p:nvSpPr>
            <p:cNvPr id="218" name="Google Shape;218;p25"/>
            <p:cNvSpPr/>
            <p:nvPr/>
          </p:nvSpPr>
          <p:spPr>
            <a:xfrm rot="5400000">
              <a:off x="3464646" y="-1154243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5"/>
            <p:cNvSpPr txBox="1"/>
            <p:nvPr/>
          </p:nvSpPr>
          <p:spPr>
            <a:xfrm>
              <a:off x="997798" y="1357834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19050" rIns="19050" bIns="19050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lang="en-EG"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TUIO + GUI</a:t>
              </a:r>
              <a:endParaRPr/>
            </a:p>
          </p:txBody>
        </p:sp>
        <p:sp>
          <p:nvSpPr>
            <p:cNvPr id="220" name="Google Shape;220;p25"/>
            <p:cNvSpPr/>
            <p:nvPr/>
          </p:nvSpPr>
          <p:spPr>
            <a:xfrm rot="5400000">
              <a:off x="-213813" y="2837411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5"/>
            <p:cNvSpPr txBox="1"/>
            <p:nvPr/>
          </p:nvSpPr>
          <p:spPr>
            <a:xfrm>
              <a:off x="2" y="3122496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5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EG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3 </a:t>
              </a:r>
              <a:endParaRPr/>
            </a:p>
          </p:txBody>
        </p:sp>
        <p:sp>
          <p:nvSpPr>
            <p:cNvPr id="222" name="Google Shape;222;p25"/>
            <p:cNvSpPr/>
            <p:nvPr/>
          </p:nvSpPr>
          <p:spPr>
            <a:xfrm rot="5400000">
              <a:off x="3464646" y="156748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5"/>
            <p:cNvSpPr txBox="1"/>
            <p:nvPr/>
          </p:nvSpPr>
          <p:spPr>
            <a:xfrm>
              <a:off x="997798" y="2668826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19050" rIns="19050" bIns="19050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lang="en-EG"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Sockets</a:t>
              </a:r>
              <a:endParaRPr/>
            </a:p>
          </p:txBody>
        </p:sp>
        <p:sp>
          <p:nvSpPr>
            <p:cNvPr id="224" name="Google Shape;224;p25"/>
            <p:cNvSpPr/>
            <p:nvPr/>
          </p:nvSpPr>
          <p:spPr>
            <a:xfrm rot="5400000">
              <a:off x="-213813" y="4148402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5"/>
            <p:cNvSpPr txBox="1"/>
            <p:nvPr/>
          </p:nvSpPr>
          <p:spPr>
            <a:xfrm>
              <a:off x="2" y="4433487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5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EG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4</a:t>
              </a:r>
              <a:endParaRPr/>
            </a:p>
          </p:txBody>
        </p:sp>
        <p:sp>
          <p:nvSpPr>
            <p:cNvPr id="226" name="Google Shape;226;p25"/>
            <p:cNvSpPr/>
            <p:nvPr/>
          </p:nvSpPr>
          <p:spPr>
            <a:xfrm rot="5400000">
              <a:off x="3464646" y="1467740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5"/>
            <p:cNvSpPr txBox="1"/>
            <p:nvPr/>
          </p:nvSpPr>
          <p:spPr>
            <a:xfrm>
              <a:off x="997798" y="3979818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19050" rIns="19050" bIns="19050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lang="en-EG"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Bluetooth + Context Awareness</a:t>
              </a:r>
              <a:endParaRPr/>
            </a:p>
          </p:txBody>
        </p:sp>
        <p:sp>
          <p:nvSpPr>
            <p:cNvPr id="228" name="Google Shape;228;p25"/>
            <p:cNvSpPr/>
            <p:nvPr/>
          </p:nvSpPr>
          <p:spPr>
            <a:xfrm rot="5400000">
              <a:off x="-213813" y="5459394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5"/>
            <p:cNvSpPr txBox="1"/>
            <p:nvPr/>
          </p:nvSpPr>
          <p:spPr>
            <a:xfrm>
              <a:off x="2" y="5744479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5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EG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5</a:t>
              </a:r>
              <a:endParaRPr/>
            </a:p>
          </p:txBody>
        </p:sp>
        <p:sp>
          <p:nvSpPr>
            <p:cNvPr id="230" name="Google Shape;230;p25"/>
            <p:cNvSpPr/>
            <p:nvPr/>
          </p:nvSpPr>
          <p:spPr>
            <a:xfrm rot="5400000">
              <a:off x="3464646" y="2778732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5"/>
            <p:cNvSpPr txBox="1"/>
            <p:nvPr/>
          </p:nvSpPr>
          <p:spPr>
            <a:xfrm>
              <a:off x="997798" y="5290810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19050" rIns="19050" bIns="19050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lang="en-EG"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Mediapipe + Gesture Recognition</a:t>
              </a:r>
              <a:endParaRPr/>
            </a:p>
          </p:txBody>
        </p:sp>
      </p:grpSp>
      <p:grpSp>
        <p:nvGrpSpPr>
          <p:cNvPr id="232" name="Google Shape;232;p25"/>
          <p:cNvGrpSpPr/>
          <p:nvPr/>
        </p:nvGrpSpPr>
        <p:grpSpPr>
          <a:xfrm>
            <a:off x="9729011" y="3266684"/>
            <a:ext cx="6858020" cy="6669392"/>
            <a:chOff x="1" y="1613"/>
            <a:chExt cx="6858020" cy="6669392"/>
          </a:xfrm>
        </p:grpSpPr>
        <p:sp>
          <p:nvSpPr>
            <p:cNvPr id="233" name="Google Shape;233;p25"/>
            <p:cNvSpPr/>
            <p:nvPr/>
          </p:nvSpPr>
          <p:spPr>
            <a:xfrm rot="5400000">
              <a:off x="-213813" y="215427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 txBox="1"/>
            <p:nvPr/>
          </p:nvSpPr>
          <p:spPr>
            <a:xfrm>
              <a:off x="2" y="500512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EG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6</a:t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5400000">
              <a:off x="3464646" y="-2465235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 txBox="1"/>
            <p:nvPr/>
          </p:nvSpPr>
          <p:spPr>
            <a:xfrm>
              <a:off x="997798" y="46842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n-EG"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Face Detection and Facial Recognition</a:t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5400000">
              <a:off x="-213813" y="1526419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 txBox="1"/>
            <p:nvPr/>
          </p:nvSpPr>
          <p:spPr>
            <a:xfrm>
              <a:off x="2" y="1811504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EG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9</a:t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5400000">
              <a:off x="3464646" y="-1154243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5"/>
            <p:cNvSpPr txBox="1"/>
            <p:nvPr/>
          </p:nvSpPr>
          <p:spPr>
            <a:xfrm>
              <a:off x="997798" y="1357834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n-EG"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 Detection YOLO</a:t>
              </a:r>
              <a:endParaRPr/>
            </a:p>
          </p:txBody>
        </p:sp>
        <p:sp>
          <p:nvSpPr>
            <p:cNvPr id="241" name="Google Shape;241;p25"/>
            <p:cNvSpPr/>
            <p:nvPr/>
          </p:nvSpPr>
          <p:spPr>
            <a:xfrm rot="5400000">
              <a:off x="-213813" y="2837411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5"/>
            <p:cNvSpPr txBox="1"/>
            <p:nvPr/>
          </p:nvSpPr>
          <p:spPr>
            <a:xfrm>
              <a:off x="2" y="3122496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EG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10 </a:t>
              </a:r>
              <a:endParaRPr/>
            </a:p>
          </p:txBody>
        </p:sp>
        <p:sp>
          <p:nvSpPr>
            <p:cNvPr id="243" name="Google Shape;243;p25"/>
            <p:cNvSpPr/>
            <p:nvPr/>
          </p:nvSpPr>
          <p:spPr>
            <a:xfrm rot="5400000">
              <a:off x="3464646" y="156748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5"/>
            <p:cNvSpPr txBox="1"/>
            <p:nvPr/>
          </p:nvSpPr>
          <p:spPr>
            <a:xfrm>
              <a:off x="997798" y="2668826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n-EG"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Emotion + Gaze Tracking</a:t>
              </a:r>
              <a:endParaRPr/>
            </a:p>
          </p:txBody>
        </p:sp>
        <p:sp>
          <p:nvSpPr>
            <p:cNvPr id="245" name="Google Shape;245;p25"/>
            <p:cNvSpPr/>
            <p:nvPr/>
          </p:nvSpPr>
          <p:spPr>
            <a:xfrm rot="5400000">
              <a:off x="-213813" y="4148402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5"/>
            <p:cNvSpPr txBox="1"/>
            <p:nvPr/>
          </p:nvSpPr>
          <p:spPr>
            <a:xfrm>
              <a:off x="2" y="4433487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EG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11</a:t>
              </a:r>
              <a:endParaRPr/>
            </a:p>
          </p:txBody>
        </p:sp>
        <p:sp>
          <p:nvSpPr>
            <p:cNvPr id="247" name="Google Shape;247;p25"/>
            <p:cNvSpPr/>
            <p:nvPr/>
          </p:nvSpPr>
          <p:spPr>
            <a:xfrm rot="5400000">
              <a:off x="3464646" y="1467740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5"/>
            <p:cNvSpPr txBox="1"/>
            <p:nvPr/>
          </p:nvSpPr>
          <p:spPr>
            <a:xfrm>
              <a:off x="997798" y="3979818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n-EG"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Unity</a:t>
              </a: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 rot="5400000">
              <a:off x="-213813" y="5459394"/>
              <a:ext cx="1425425" cy="997797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5"/>
            <p:cNvSpPr txBox="1"/>
            <p:nvPr/>
          </p:nvSpPr>
          <p:spPr>
            <a:xfrm>
              <a:off x="2" y="5744479"/>
              <a:ext cx="997797" cy="427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25" tIns="13325" rIns="13325" bIns="1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EG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Week 12</a:t>
              </a:r>
              <a:endParaRPr/>
            </a:p>
          </p:txBody>
        </p:sp>
        <p:sp>
          <p:nvSpPr>
            <p:cNvPr id="251" name="Google Shape;251;p25"/>
            <p:cNvSpPr/>
            <p:nvPr/>
          </p:nvSpPr>
          <p:spPr>
            <a:xfrm rot="5400000">
              <a:off x="3464646" y="2778732"/>
              <a:ext cx="926526" cy="586022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5"/>
            <p:cNvSpPr txBox="1"/>
            <p:nvPr/>
          </p:nvSpPr>
          <p:spPr>
            <a:xfrm>
              <a:off x="997798" y="5290810"/>
              <a:ext cx="5814995" cy="836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9125" tIns="17775" rIns="17775" bIns="17775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Char char="•"/>
              </a:pPr>
              <a:r>
                <a:rPr lang="en-EG"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</a:t>
              </a:r>
              <a:endParaRPr/>
            </a:p>
          </p:txBody>
        </p:sp>
      </p:grpSp>
      <p:sp>
        <p:nvSpPr>
          <p:cNvPr id="253" name="Google Shape;253;p25"/>
          <p:cNvSpPr txBox="1"/>
          <p:nvPr/>
        </p:nvSpPr>
        <p:spPr>
          <a:xfrm>
            <a:off x="371378" y="6025503"/>
            <a:ext cx="841897" cy="52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343747" y="8707315"/>
            <a:ext cx="841897" cy="52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7276729" y="4770822"/>
            <a:ext cx="841897" cy="52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7276729" y="7428332"/>
            <a:ext cx="841897" cy="52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800"/>
              <a:buFont typeface="Calibri"/>
              <a:buNone/>
            </a:pPr>
            <a:r>
              <a:rPr lang="en-EG">
                <a:solidFill>
                  <a:srgbClr val="FF0000"/>
                </a:solidFill>
              </a:rPr>
              <a:t>Softwares</a:t>
            </a:r>
            <a:endParaRPr/>
          </a:p>
        </p:txBody>
      </p:sp>
      <p:pic>
        <p:nvPicPr>
          <p:cNvPr id="262" name="Google Shape;262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7288" y="3557068"/>
            <a:ext cx="6152510" cy="3069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 descr="Project Jupyter -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557" y="6246584"/>
            <a:ext cx="2380335" cy="275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62466" y="6399480"/>
            <a:ext cx="6455585" cy="3069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 descr="Pose detection in image using Mediapipe library - Analytics Vidhy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55749" y="7191918"/>
            <a:ext cx="5468077" cy="1484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6" descr="GitHub - goktug97/PyYOLO: Easy to use Python wrapper for YOLO Real-Time Object  Detection Library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62593" y="7097161"/>
            <a:ext cx="3400267" cy="1674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8510" y="3070595"/>
            <a:ext cx="5324213" cy="193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 descr="C# Logo Download Icon PNG Transparent Background, Free Download #28402 -  FreeIcons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3365" y="1507099"/>
            <a:ext cx="3331417" cy="319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6" descr="TUIO Logo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698532" y="3429124"/>
            <a:ext cx="3157962" cy="315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 descr="Visual Studio logo and symbol, meaning, history, 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611802" y="1228799"/>
            <a:ext cx="3554743" cy="1999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 txBox="1">
            <a:spLocks noGrp="1"/>
          </p:cNvSpPr>
          <p:nvPr>
            <p:ph type="title"/>
          </p:nvPr>
        </p:nvSpPr>
        <p:spPr>
          <a:xfrm>
            <a:off x="1309435" y="1042110"/>
            <a:ext cx="16396395" cy="159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Content : Markers</a:t>
            </a:r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</a:pPr>
            <a:r>
              <a:rPr lang="en-EG"/>
              <a:t>ArUco</a:t>
            </a:r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body" idx="3"/>
          </p:nvPr>
        </p:nvSpPr>
        <p:spPr>
          <a:xfrm>
            <a:off x="9623971" y="2621369"/>
            <a:ext cx="8081859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</a:pPr>
            <a:r>
              <a:rPr lang="en-EG"/>
              <a:t>TUIO</a:t>
            </a:r>
            <a:endParaRPr/>
          </a:p>
        </p:txBody>
      </p:sp>
      <p:pic>
        <p:nvPicPr>
          <p:cNvPr id="278" name="Google Shape;278;p27" descr="A typical ArUco library marker. | Download Scientific Diagr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4482" y="3843274"/>
            <a:ext cx="8081859" cy="56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7" descr="martin kaltenbrunn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5702" y="3843274"/>
            <a:ext cx="5758396" cy="5758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Critical Thinking</a:t>
            </a:r>
            <a:endParaRPr/>
          </a:p>
        </p:txBody>
      </p:sp>
      <p:sp>
        <p:nvSpPr>
          <p:cNvPr id="285" name="Google Shape;285;p28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16396395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What is the problem ?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What are the proposed solutions ?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How to implement these solutions ?</a:t>
            </a:r>
            <a:endParaRPr/>
          </a:p>
        </p:txBody>
      </p:sp>
      <p:pic>
        <p:nvPicPr>
          <p:cNvPr id="286" name="Google Shape;28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7159" y="3423329"/>
            <a:ext cx="8717097" cy="5084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Markers</a:t>
            </a:r>
            <a:endParaRPr/>
          </a:p>
        </p:txBody>
      </p:sp>
      <p:sp>
        <p:nvSpPr>
          <p:cNvPr id="292" name="Google Shape;292;p29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16396395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What is markers ?</a:t>
            </a:r>
            <a:endParaRPr/>
          </a:p>
          <a:p>
            <a:pPr marL="356433" lvl="0" indent="-356433" algn="l" rtl="0">
              <a:lnSpc>
                <a:spcPct val="20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Why not using QR codes ?</a:t>
            </a:r>
            <a:endParaRPr/>
          </a:p>
          <a:p>
            <a:pPr marL="1069299" lvl="1" indent="-356433" algn="l" rtl="0">
              <a:lnSpc>
                <a:spcPct val="20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Markers can capture the </a:t>
            </a:r>
            <a:r>
              <a:rPr lang="en-EG">
                <a:solidFill>
                  <a:srgbClr val="FFA100"/>
                </a:solidFill>
              </a:rPr>
              <a:t>orientation</a:t>
            </a:r>
            <a:endParaRPr/>
          </a:p>
          <a:p>
            <a:pPr marL="356433" lvl="0" indent="-356433" algn="l" rtl="0">
              <a:lnSpc>
                <a:spcPct val="20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Markers vs Markerless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1309435" y="1042110"/>
            <a:ext cx="16396395" cy="159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Content : Markers</a:t>
            </a:r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</a:pPr>
            <a:r>
              <a:rPr lang="en-EG"/>
              <a:t>ArUco</a:t>
            </a:r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2"/>
          </p:nvPr>
        </p:nvSpPr>
        <p:spPr>
          <a:xfrm>
            <a:off x="1309436" y="3906061"/>
            <a:ext cx="8042253" cy="574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EG" sz="3600"/>
              <a:t>Can generate any number of markers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EG" sz="3600"/>
              <a:t>Integrated into openCV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EG" sz="3600"/>
              <a:t>More Difficult to implement</a:t>
            </a:r>
            <a:endParaRPr/>
          </a:p>
          <a:p>
            <a:pPr marL="356433" lvl="0" indent="-127832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</p:txBody>
      </p:sp>
      <p:sp>
        <p:nvSpPr>
          <p:cNvPr id="300" name="Google Shape;300;p30"/>
          <p:cNvSpPr txBox="1">
            <a:spLocks noGrp="1"/>
          </p:cNvSpPr>
          <p:nvPr>
            <p:ph type="body" idx="3"/>
          </p:nvPr>
        </p:nvSpPr>
        <p:spPr>
          <a:xfrm>
            <a:off x="9623971" y="2621369"/>
            <a:ext cx="8081859" cy="128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</a:pPr>
            <a:r>
              <a:rPr lang="en-EG"/>
              <a:t>TUIO</a:t>
            </a:r>
            <a:endParaRPr/>
          </a:p>
        </p:txBody>
      </p:sp>
      <p:sp>
        <p:nvSpPr>
          <p:cNvPr id="301" name="Google Shape;301;p30"/>
          <p:cNvSpPr txBox="1">
            <a:spLocks noGrp="1"/>
          </p:cNvSpPr>
          <p:nvPr>
            <p:ph type="body" idx="4"/>
          </p:nvPr>
        </p:nvSpPr>
        <p:spPr>
          <a:xfrm>
            <a:off x="9623971" y="3906061"/>
            <a:ext cx="8081859" cy="574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EG" sz="3600"/>
              <a:t>Limited number of markers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EG" sz="3600"/>
              <a:t>Not integrated in OpenCV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EG" sz="3600"/>
              <a:t>Easier to implment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FF0000"/>
              </a:buClr>
              <a:buSzPts val="3600"/>
              <a:buChar char="•"/>
            </a:pPr>
            <a:r>
              <a:rPr lang="en-EG" sz="3600">
                <a:solidFill>
                  <a:srgbClr val="FF0000"/>
                </a:solidFill>
              </a:rPr>
              <a:t>Readymade code is avaiable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TUIO</a:t>
            </a:r>
            <a:endParaRPr/>
          </a:p>
        </p:txBody>
      </p:sp>
      <p:sp>
        <p:nvSpPr>
          <p:cNvPr id="308" name="Google Shape;308;p31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7622133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Usage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118"/>
              <a:buChar char="•"/>
            </a:pPr>
            <a:r>
              <a:rPr lang="en-EG" sz="3118"/>
              <a:t>Tangible Child Education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118"/>
              <a:buChar char="•"/>
            </a:pPr>
            <a:r>
              <a:rPr lang="en-EG" sz="3118"/>
              <a:t>Tangible Games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118"/>
              <a:buChar char="•"/>
            </a:pPr>
            <a:r>
              <a:rPr lang="en-EG" sz="3118"/>
              <a:t>Tangible Music Player</a:t>
            </a:r>
            <a:endParaRPr/>
          </a:p>
        </p:txBody>
      </p:sp>
      <p:pic>
        <p:nvPicPr>
          <p:cNvPr id="309" name="Google Shape;309;p31" descr="Medialer Raum - btk-f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1260" y="3186460"/>
            <a:ext cx="7620000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TUIO Setup</a:t>
            </a:r>
            <a:endParaRPr/>
          </a:p>
        </p:txBody>
      </p:sp>
      <p:pic>
        <p:nvPicPr>
          <p:cNvPr id="315" name="Google Shape;315;p32" descr="mouse - Is there any webcam finger tracking software available? - Ask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957" y="3546500"/>
            <a:ext cx="16396395" cy="5812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TUIO Architecture</a:t>
            </a:r>
            <a:endParaRPr/>
          </a:p>
        </p:txBody>
      </p:sp>
      <p:grpSp>
        <p:nvGrpSpPr>
          <p:cNvPr id="321" name="Google Shape;321;p33"/>
          <p:cNvGrpSpPr/>
          <p:nvPr/>
        </p:nvGrpSpPr>
        <p:grpSpPr>
          <a:xfrm>
            <a:off x="2256421" y="4770636"/>
            <a:ext cx="2647007" cy="2582192"/>
            <a:chOff x="2204988" y="3939244"/>
            <a:chExt cx="2647007" cy="2582192"/>
          </a:xfrm>
        </p:grpSpPr>
        <p:pic>
          <p:nvPicPr>
            <p:cNvPr id="322" name="Google Shape;322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64396" y="3939244"/>
              <a:ext cx="1728192" cy="17281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33"/>
            <p:cNvSpPr txBox="1"/>
            <p:nvPr/>
          </p:nvSpPr>
          <p:spPr>
            <a:xfrm>
              <a:off x="2204988" y="6059771"/>
              <a:ext cx="264700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EG" sz="24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ReacTVIsion Server</a:t>
              </a:r>
              <a:endParaRPr/>
            </a:p>
          </p:txBody>
        </p:sp>
      </p:grpSp>
      <p:cxnSp>
        <p:nvCxnSpPr>
          <p:cNvPr id="324" name="Google Shape;324;p33"/>
          <p:cNvCxnSpPr>
            <a:stCxn id="322" idx="3"/>
          </p:cNvCxnSpPr>
          <p:nvPr/>
        </p:nvCxnSpPr>
        <p:spPr>
          <a:xfrm>
            <a:off x="4444021" y="5634732"/>
            <a:ext cx="92529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5" name="Google Shape;325;p33"/>
          <p:cNvSpPr txBox="1"/>
          <p:nvPr/>
        </p:nvSpPr>
        <p:spPr>
          <a:xfrm>
            <a:off x="7776964" y="4288103"/>
            <a:ext cx="41764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Sockets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03325" y="4240940"/>
            <a:ext cx="36068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15138181" y="7052885"/>
            <a:ext cx="15370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Java Client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>
            <a:spLocks noGrp="1"/>
          </p:cNvSpPr>
          <p:nvPr>
            <p:ph type="title"/>
          </p:nvPr>
        </p:nvSpPr>
        <p:spPr>
          <a:xfrm>
            <a:off x="1306958" y="1530276"/>
            <a:ext cx="16396395" cy="139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</a:pPr>
            <a:r>
              <a:rPr lang="en-EG"/>
              <a:t>Where to modify our codes ?</a:t>
            </a:r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body" idx="1"/>
          </p:nvPr>
        </p:nvSpPr>
        <p:spPr>
          <a:xfrm>
            <a:off x="1306959" y="3186460"/>
            <a:ext cx="16396395" cy="644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6433" lvl="0" indent="-35643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Server is a black box</a:t>
            </a:r>
            <a:endParaRPr/>
          </a:p>
          <a:p>
            <a:pPr marL="356433" lvl="0" indent="-356433" algn="l" rtl="0">
              <a:lnSpc>
                <a:spcPct val="90000"/>
              </a:lnSpc>
              <a:spcBef>
                <a:spcPts val="1559"/>
              </a:spcBef>
              <a:spcAft>
                <a:spcPts val="0"/>
              </a:spcAft>
              <a:buClr>
                <a:srgbClr val="7F7F7F"/>
              </a:buClr>
              <a:buSzPts val="4300"/>
              <a:buChar char="•"/>
            </a:pPr>
            <a:r>
              <a:rPr lang="en-EG"/>
              <a:t>We edit our codes in the client app</a:t>
            </a:r>
            <a:endParaRPr/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700"/>
              <a:buChar char="•"/>
            </a:pPr>
            <a:r>
              <a:rPr lang="en-EG"/>
              <a:t>Clients apps are avaible in C++ , Java and C# </a:t>
            </a:r>
            <a:endParaRPr/>
          </a:p>
          <a:p>
            <a:pPr marL="1782166" lvl="2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FF0000"/>
              </a:buClr>
              <a:buSzPts val="3100"/>
              <a:buChar char="•"/>
            </a:pPr>
            <a:r>
              <a:rPr lang="en-EG">
                <a:solidFill>
                  <a:srgbClr val="FF0000"/>
                </a:solidFill>
              </a:rPr>
              <a:t>No Python client</a:t>
            </a:r>
            <a:endParaRPr/>
          </a:p>
          <a:p>
            <a:pPr marL="1782166" lvl="2" indent="-158439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3118"/>
              <a:buNone/>
            </a:pPr>
            <a:endParaRPr>
              <a:solidFill>
                <a:srgbClr val="FF0000"/>
              </a:solidFill>
            </a:endParaRPr>
          </a:p>
          <a:p>
            <a:pPr marL="1069299" lvl="1" indent="-356433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4366"/>
              <a:buChar char="•"/>
            </a:pPr>
            <a:r>
              <a:rPr lang="en-EG" sz="4366"/>
              <a:t>Inside Java (</a:t>
            </a:r>
            <a:r>
              <a:rPr lang="en-EG" sz="3200" b="0" i="0">
                <a:solidFill>
                  <a:srgbClr val="009EF3"/>
                </a:solidFill>
                <a:latin typeface="Arial"/>
                <a:ea typeface="Arial"/>
                <a:cs typeface="Arial"/>
                <a:sym typeface="Arial"/>
              </a:rPr>
              <a:t>TUIO Demo Object</a:t>
            </a:r>
            <a:r>
              <a:rPr lang="en-EG" sz="4366"/>
              <a:t>) we update the function (</a:t>
            </a:r>
            <a:r>
              <a:rPr lang="en-EG" sz="3200" i="0">
                <a:solidFill>
                  <a:srgbClr val="009EF3"/>
                </a:solidFill>
                <a:latin typeface="Arial"/>
                <a:ea typeface="Arial"/>
                <a:cs typeface="Arial"/>
                <a:sym typeface="Arial"/>
              </a:rPr>
              <a:t>paint</a:t>
            </a:r>
            <a:r>
              <a:rPr lang="en-EG" sz="4366"/>
              <a:t>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/>
          <p:nvPr/>
        </p:nvSpPr>
        <p:spPr>
          <a:xfrm>
            <a:off x="0" y="7866980"/>
            <a:ext cx="3256757" cy="828000"/>
          </a:xfrm>
          <a:custGeom>
            <a:avLst/>
            <a:gdLst/>
            <a:ahLst/>
            <a:cxnLst/>
            <a:rect l="l" t="t" r="r" b="b"/>
            <a:pathLst>
              <a:path w="1955164" h="437514" extrusionOk="0">
                <a:moveTo>
                  <a:pt x="1736031" y="0"/>
                </a:moveTo>
                <a:lnTo>
                  <a:pt x="0" y="0"/>
                </a:lnTo>
                <a:lnTo>
                  <a:pt x="0" y="437153"/>
                </a:lnTo>
                <a:lnTo>
                  <a:pt x="1736031" y="437153"/>
                </a:lnTo>
                <a:lnTo>
                  <a:pt x="1786148" y="431380"/>
                </a:lnTo>
                <a:lnTo>
                  <a:pt x="1832155" y="414936"/>
                </a:lnTo>
                <a:lnTo>
                  <a:pt x="1872739" y="389134"/>
                </a:lnTo>
                <a:lnTo>
                  <a:pt x="1906588" y="355285"/>
                </a:lnTo>
                <a:lnTo>
                  <a:pt x="1932391" y="314701"/>
                </a:lnTo>
                <a:lnTo>
                  <a:pt x="1948834" y="268694"/>
                </a:lnTo>
                <a:lnTo>
                  <a:pt x="1954607" y="218577"/>
                </a:lnTo>
                <a:lnTo>
                  <a:pt x="1948834" y="168459"/>
                </a:lnTo>
                <a:lnTo>
                  <a:pt x="1932391" y="122452"/>
                </a:lnTo>
                <a:lnTo>
                  <a:pt x="1906588" y="81868"/>
                </a:lnTo>
                <a:lnTo>
                  <a:pt x="1872739" y="48018"/>
                </a:lnTo>
                <a:lnTo>
                  <a:pt x="1832155" y="22216"/>
                </a:lnTo>
                <a:lnTo>
                  <a:pt x="1786148" y="5772"/>
                </a:lnTo>
                <a:lnTo>
                  <a:pt x="1736031" y="0"/>
                </a:lnTo>
                <a:close/>
              </a:path>
            </a:pathLst>
          </a:custGeom>
          <a:solidFill>
            <a:srgbClr val="FF82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665956" y="8059124"/>
            <a:ext cx="2561858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G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665956" y="8652115"/>
            <a:ext cx="5365200" cy="21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EG" sz="2800" u="sng" dirty="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fdarwish@msa.edu.eg</a:t>
            </a:r>
            <a:endParaRPr sz="2800" u="sng" dirty="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EG" sz="2800" u="sng" dirty="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maashraf@msa.edu.eg</a:t>
            </a:r>
            <a:endParaRPr sz="2800" u="sng" dirty="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EG" sz="2800" u="sng" dirty="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akamaleldin@msa.edu.eg</a:t>
            </a:r>
            <a:endParaRPr sz="2800" u="sng" dirty="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100"/>
              <a:buNone/>
            </a:pPr>
            <a:r>
              <a:rPr lang="en-EG" sz="2800" u="sng" dirty="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maabdelfattah@msa.edu.eg</a:t>
            </a:r>
            <a:endParaRPr sz="2800" u="sng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35" descr="Any Questions Slide PowerPoint Template and Google Slides"/>
          <p:cNvPicPr preferRelativeResize="0"/>
          <p:nvPr/>
        </p:nvPicPr>
        <p:blipFill rotWithShape="1">
          <a:blip r:embed="rId3">
            <a:alphaModFix/>
          </a:blip>
          <a:srcRect t="11943" r="49995" b="17701"/>
          <a:stretch/>
        </p:blipFill>
        <p:spPr>
          <a:xfrm>
            <a:off x="9940647" y="2190565"/>
            <a:ext cx="7904632" cy="631227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5"/>
          <p:cNvSpPr txBox="1">
            <a:spLocks noGrp="1"/>
          </p:cNvSpPr>
          <p:nvPr>
            <p:ph type="title"/>
          </p:nvPr>
        </p:nvSpPr>
        <p:spPr>
          <a:xfrm>
            <a:off x="1185716" y="2190565"/>
            <a:ext cx="6131320" cy="1965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Calibri"/>
              <a:buNone/>
            </a:pPr>
            <a:r>
              <a:rPr lang="en-EG" sz="5400">
                <a:solidFill>
                  <a:srgbClr val="7F7F7F"/>
                </a:solidFill>
              </a:rPr>
              <a:t>Do You Have Any Question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Custom</PresentationFormat>
  <Paragraphs>131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Why HCI</vt:lpstr>
      <vt:lpstr>How Many Types of Interactions ?</vt:lpstr>
      <vt:lpstr>Interactions</vt:lpstr>
      <vt:lpstr>PowerPoint Presentation</vt:lpstr>
      <vt:lpstr>PowerPoint Presentation</vt:lpstr>
      <vt:lpstr>General Guidelines</vt:lpstr>
      <vt:lpstr>General Guidelines</vt:lpstr>
      <vt:lpstr>Project</vt:lpstr>
      <vt:lpstr>Project</vt:lpstr>
      <vt:lpstr>Rewards</vt:lpstr>
      <vt:lpstr>UGRF – CIS: Evaluating Student Engagement</vt:lpstr>
      <vt:lpstr>RoadMap</vt:lpstr>
      <vt:lpstr>Softwares</vt:lpstr>
      <vt:lpstr>Content : Markers</vt:lpstr>
      <vt:lpstr>Critical Thinking</vt:lpstr>
      <vt:lpstr>Markers</vt:lpstr>
      <vt:lpstr>Content : Markers</vt:lpstr>
      <vt:lpstr>TUIO</vt:lpstr>
      <vt:lpstr>TUIO Setup</vt:lpstr>
      <vt:lpstr>TUIO Architecture</vt:lpstr>
      <vt:lpstr>Where to modify our codes ?</vt:lpstr>
      <vt:lpstr>Do You Have Any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Mazen Ashraf</cp:lastModifiedBy>
  <cp:revision>2</cp:revision>
  <dcterms:modified xsi:type="dcterms:W3CDTF">2026-02-24T16:51:23Z</dcterms:modified>
</cp:coreProperties>
</file>